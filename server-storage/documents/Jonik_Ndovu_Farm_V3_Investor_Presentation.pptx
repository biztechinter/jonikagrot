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3F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3_Concept_Cover_Visual.jpg"/>
          <p:cNvPicPr>
            <a:picLocks noChangeAspect="1"/>
          </p:cNvPicPr>
          <p:nvPr/>
        </p:nvPicPr>
        <p:blipFill>
          <a:blip r:embed="rId2"/>
          <a:stretch>
            <a:fillRect/>
          </a:stretch>
        </p:blipFill>
        <p:spPr>
          <a:xfrm>
            <a:off x="6217920" y="0"/>
            <a:ext cx="5971032" cy="6858000"/>
          </a:xfrm>
          <a:prstGeom prst="rect">
            <a:avLst/>
          </a:prstGeom>
        </p:spPr>
      </p:pic>
      <p:sp>
        <p:nvSpPr>
          <p:cNvPr id="4" name="TextBox 3"/>
          <p:cNvSpPr txBox="1"/>
          <p:nvPr/>
        </p:nvSpPr>
        <p:spPr>
          <a:xfrm>
            <a:off x="594360" y="731520"/>
            <a:ext cx="5486400" cy="1097280"/>
          </a:xfrm>
          <a:prstGeom prst="rect">
            <a:avLst/>
          </a:prstGeom>
          <a:noFill/>
        </p:spPr>
        <p:txBody>
          <a:bodyPr wrap="square">
            <a:spAutoFit/>
          </a:bodyPr>
          <a:lstStyle/>
          <a:p>
            <a:pPr>
              <a:defRPr sz="3400" b="1">
                <a:solidFill>
                  <a:srgbClr val="FFFFFF"/>
                </a:solidFill>
                <a:latin typeface="Aptos Display"/>
              </a:defRPr>
            </a:pPr>
            <a:r>
              <a:t>JONIK</a:t>
            </a:r>
          </a:p>
          <a:p>
            <a:pPr>
              <a:defRPr sz="3400" b="1">
                <a:solidFill>
                  <a:srgbClr val="FFFFFF"/>
                </a:solidFill>
                <a:latin typeface="Aptos Display"/>
              </a:defRPr>
            </a:pPr>
            <a:r>
              <a:t>NDOVU FARM</a:t>
            </a:r>
          </a:p>
        </p:txBody>
      </p:sp>
      <p:sp>
        <p:nvSpPr>
          <p:cNvPr id="5" name="TextBox 4"/>
          <p:cNvSpPr txBox="1"/>
          <p:nvPr/>
        </p:nvSpPr>
        <p:spPr>
          <a:xfrm>
            <a:off x="621792" y="2148840"/>
            <a:ext cx="5212080" cy="914400"/>
          </a:xfrm>
          <a:prstGeom prst="rect">
            <a:avLst/>
          </a:prstGeom>
          <a:noFill/>
        </p:spPr>
        <p:txBody>
          <a:bodyPr wrap="square">
            <a:spAutoFit/>
          </a:bodyPr>
          <a:lstStyle/>
          <a:p>
            <a:pPr>
              <a:defRPr sz="2100" b="0">
                <a:solidFill>
                  <a:srgbClr val="E9E0CF"/>
                </a:solidFill>
                <a:latin typeface="Aptos"/>
              </a:defRPr>
            </a:pPr>
            <a:r>
              <a:t>A hospitality-led agro-tourism destination in Laikipia, Kenya</a:t>
            </a:r>
          </a:p>
        </p:txBody>
      </p:sp>
      <p:sp>
        <p:nvSpPr>
          <p:cNvPr id="6" name="TextBox 5"/>
          <p:cNvSpPr txBox="1"/>
          <p:nvPr/>
        </p:nvSpPr>
        <p:spPr>
          <a:xfrm>
            <a:off x="640080" y="3840480"/>
            <a:ext cx="5029200" cy="914400"/>
          </a:xfrm>
          <a:prstGeom prst="rect">
            <a:avLst/>
          </a:prstGeom>
          <a:noFill/>
        </p:spPr>
        <p:txBody>
          <a:bodyPr wrap="square">
            <a:spAutoFit/>
          </a:bodyPr>
          <a:lstStyle/>
          <a:p>
            <a:pPr>
              <a:defRPr sz="1300" b="1">
                <a:solidFill>
                  <a:srgbClr val="FFFFFF"/>
                </a:solidFill>
                <a:latin typeface="Aptos"/>
              </a:defRPr>
            </a:pPr>
            <a:r>
              <a:t>INVESTOR PRESENTATION</a:t>
            </a:r>
          </a:p>
          <a:p>
            <a:pPr>
              <a:defRPr sz="1300" b="1">
                <a:solidFill>
                  <a:srgbClr val="FFFFFF"/>
                </a:solidFill>
                <a:latin typeface="Aptos"/>
              </a:defRPr>
            </a:pPr>
            <a:r>
              <a:t>VERSION 3.0  |  OCTOBER 2026</a:t>
            </a:r>
          </a:p>
        </p:txBody>
      </p:sp>
      <p:sp>
        <p:nvSpPr>
          <p:cNvPr id="7" name="TextBox 6"/>
          <p:cNvSpPr txBox="1"/>
          <p:nvPr/>
        </p:nvSpPr>
        <p:spPr>
          <a:xfrm>
            <a:off x="640080" y="6126480"/>
            <a:ext cx="5303520" cy="320040"/>
          </a:xfrm>
          <a:prstGeom prst="rect">
            <a:avLst/>
          </a:prstGeom>
          <a:noFill/>
        </p:spPr>
        <p:txBody>
          <a:bodyPr wrap="square">
            <a:spAutoFit/>
          </a:bodyPr>
          <a:lstStyle/>
          <a:p>
            <a:pPr>
              <a:defRPr sz="1200" b="0">
                <a:solidFill>
                  <a:srgbClr val="E9E0CF"/>
                </a:solidFill>
                <a:latin typeface="Aptos"/>
              </a:defRPr>
            </a:pPr>
            <a:r>
              <a:t>12–15 units  •  US$2.4m total capital requirement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01  Executive Summary</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Investment brief</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The current developer-surveyed plan is 12–15 accommodation units. The total capital requirement is US$2.4 million, including the proposed acquisition of approximately 7 additional hectares.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02  The Vision</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Concept</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pic>
        <p:nvPicPr>
          <p:cNvPr id="6" name="Picture 5" descr="V3_Lodge_and_Landscape_Concept.jpg"/>
          <p:cNvPicPr>
            <a:picLocks noChangeAspect="1"/>
          </p:cNvPicPr>
          <p:nvPr/>
        </p:nvPicPr>
        <p:blipFill>
          <a:blip r:embed="rId2"/>
          <a:stretch>
            <a:fillRect/>
          </a:stretch>
        </p:blipFill>
        <p:spPr>
          <a:xfrm>
            <a:off x="6949440" y="1234440"/>
            <a:ext cx="4663440" cy="4389120"/>
          </a:xfrm>
          <a:prstGeom prst="rect">
            <a:avLst/>
          </a:prstGeom>
        </p:spPr>
      </p:pic>
      <p:sp>
        <p:nvSpPr>
          <p:cNvPr id="7" name="TextBox 6"/>
          <p:cNvSpPr txBox="1"/>
          <p:nvPr/>
        </p:nvSpPr>
        <p:spPr>
          <a:xfrm>
            <a:off x="640080" y="1280160"/>
            <a:ext cx="5852160" cy="4480560"/>
          </a:xfrm>
          <a:prstGeom prst="rect">
            <a:avLst/>
          </a:prstGeom>
          <a:noFill/>
        </p:spPr>
        <p:txBody>
          <a:bodyPr wrap="square">
            <a:spAutoFit/>
          </a:bodyPr>
          <a:lstStyle/>
          <a:p>
            <a:pPr>
              <a:defRPr sz="1800" b="0">
                <a:solidFill>
                  <a:srgbClr val="23312C"/>
                </a:solidFill>
                <a:latin typeface="Aptos"/>
              </a:defRPr>
            </a:pPr>
            <a:r>
              <a:t>A small-scale, memorable destination where boutique hospitality, farm-informed food, agricultural experiences and the landscape create one coherent guest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03  Land Position</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Land</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8 hectares are stated as owned. Up to approximately 7 additional hectares may be acquired, subject to price, title, access and diligence. Approximately 15 hectares is the potential ultimate footprint—not a secured current land area.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04  Product &amp; Guest Experience</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Offer</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pic>
        <p:nvPicPr>
          <p:cNvPr id="6" name="Picture 5" descr="V3_Lodge_and_Landscape_Concept.jpg"/>
          <p:cNvPicPr>
            <a:picLocks noChangeAspect="1"/>
          </p:cNvPicPr>
          <p:nvPr/>
        </p:nvPicPr>
        <p:blipFill>
          <a:blip r:embed="rId2"/>
          <a:stretch>
            <a:fillRect/>
          </a:stretch>
        </p:blipFill>
        <p:spPr>
          <a:xfrm>
            <a:off x="6949440" y="1234440"/>
            <a:ext cx="4663440" cy="4389120"/>
          </a:xfrm>
          <a:prstGeom prst="rect">
            <a:avLst/>
          </a:prstGeom>
        </p:spPr>
      </p:pic>
      <p:sp>
        <p:nvSpPr>
          <p:cNvPr id="7" name="TextBox 6"/>
          <p:cNvSpPr txBox="1"/>
          <p:nvPr/>
        </p:nvSpPr>
        <p:spPr>
          <a:xfrm>
            <a:off x="640080" y="1280160"/>
            <a:ext cx="5852160" cy="4480560"/>
          </a:xfrm>
          <a:prstGeom prst="rect">
            <a:avLst/>
          </a:prstGeom>
          <a:noFill/>
        </p:spPr>
        <p:txBody>
          <a:bodyPr wrap="square">
            <a:spAutoFit/>
          </a:bodyPr>
          <a:lstStyle/>
          <a:p>
            <a:pPr>
              <a:defRPr sz="1800" b="0">
                <a:solidFill>
                  <a:srgbClr val="23312C"/>
                </a:solidFill>
                <a:latin typeface="Aptos"/>
              </a:defRPr>
            </a:pPr>
            <a:r>
              <a:t>• Boutique accommodation with privacy and nature connection</a:t>
            </a:r>
          </a:p>
          <a:p>
            <a:pPr>
              <a:defRPr sz="1800" b="0">
                <a:solidFill>
                  <a:srgbClr val="23312C"/>
                </a:solidFill>
                <a:latin typeface="Aptos"/>
              </a:defRPr>
            </a:pPr>
            <a:r>
              <a:t>• Farm-to-table dining and seasonal produce</a:t>
            </a:r>
          </a:p>
          <a:p>
            <a:pPr>
              <a:defRPr sz="1800" b="0">
                <a:solidFill>
                  <a:srgbClr val="23312C"/>
                </a:solidFill>
                <a:latin typeface="Aptos"/>
              </a:defRPr>
            </a:pPr>
            <a:r>
              <a:t>• Guided farm and nature experiences</a:t>
            </a:r>
          </a:p>
          <a:p>
            <a:pPr>
              <a:defRPr sz="1800" b="0">
                <a:solidFill>
                  <a:srgbClr val="23312C"/>
                </a:solidFill>
                <a:latin typeface="Aptos"/>
              </a:defRPr>
            </a:pPr>
            <a:r>
              <a:t>• Wellness, retreats or events only where demand and approvals support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05  Development Range</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Capacity</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pic>
        <p:nvPicPr>
          <p:cNvPr id="6" name="Picture 5" descr="V3_Lodge_and_Landscape_Concept.jpg"/>
          <p:cNvPicPr>
            <a:picLocks noChangeAspect="1"/>
          </p:cNvPicPr>
          <p:nvPr/>
        </p:nvPicPr>
        <p:blipFill>
          <a:blip r:embed="rId2"/>
          <a:stretch>
            <a:fillRect/>
          </a:stretch>
        </p:blipFill>
        <p:spPr>
          <a:xfrm>
            <a:off x="6949440" y="1234440"/>
            <a:ext cx="4663440" cy="4389120"/>
          </a:xfrm>
          <a:prstGeom prst="rect">
            <a:avLst/>
          </a:prstGeom>
        </p:spPr>
      </p:pic>
      <p:sp>
        <p:nvSpPr>
          <p:cNvPr id="7" name="TextBox 6"/>
          <p:cNvSpPr txBox="1"/>
          <p:nvPr/>
        </p:nvSpPr>
        <p:spPr>
          <a:xfrm>
            <a:off x="640080" y="1280160"/>
            <a:ext cx="5852160" cy="4480560"/>
          </a:xfrm>
          <a:prstGeom prst="rect">
            <a:avLst/>
          </a:prstGeom>
          <a:noFill/>
        </p:spPr>
        <p:txBody>
          <a:bodyPr wrap="square">
            <a:spAutoFit/>
          </a:bodyPr>
          <a:lstStyle/>
          <a:p>
            <a:pPr>
              <a:defRPr sz="1800" b="0">
                <a:solidFill>
                  <a:srgbClr val="23312C"/>
                </a:solidFill>
                <a:latin typeface="Aptos"/>
              </a:defRPr>
            </a:pPr>
            <a:r>
              <a:t>12 units: conservative base case for initial model. 15 units: expansion sensitivity. Final unit mix, siting and density must follow survey, planning, market testing and operator input.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06  Why This Could Work</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Thesis</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 Clear boutique positioning</a:t>
            </a:r>
          </a:p>
          <a:p>
            <a:pPr>
              <a:defRPr sz="1900" b="0">
                <a:solidFill>
                  <a:srgbClr val="23312C"/>
                </a:solidFill>
                <a:latin typeface="Aptos"/>
              </a:defRPr>
            </a:pPr>
            <a:r>
              <a:t>• Hospitality as the primary revenue engine</a:t>
            </a:r>
          </a:p>
          <a:p>
            <a:pPr>
              <a:defRPr sz="1900" b="0">
                <a:solidFill>
                  <a:srgbClr val="23312C"/>
                </a:solidFill>
                <a:latin typeface="Aptos"/>
              </a:defRPr>
            </a:pPr>
            <a:r>
              <a:t>• Agriculture supports authenticity and guest activities</a:t>
            </a:r>
          </a:p>
          <a:p>
            <a:pPr>
              <a:defRPr sz="1900" b="0">
                <a:solidFill>
                  <a:srgbClr val="23312C"/>
                </a:solidFill>
                <a:latin typeface="Aptos"/>
              </a:defRPr>
            </a:pPr>
            <a:r>
              <a:t>• Opportunity to build local supply-chain and employment pathways</a:t>
            </a:r>
          </a:p>
          <a:p>
            <a:pPr>
              <a:defRPr sz="1900" b="0">
                <a:solidFill>
                  <a:srgbClr val="23312C"/>
                </a:solidFill>
                <a:latin typeface="Aptos"/>
              </a:defRPr>
            </a:pPr>
            <a:r>
              <a:t>• Phased delivery can be assessed to manage capital exposure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07  The Capital Ask</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Capital</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US$2.4 million total, inclusive of proposed land acquisition. The allocation across land, construction, infrastructure, FF&amp;E, professional fees, contingency, pre-opening and working capital must be reconciled to a QS cost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08  Sources &amp; Uses — Work in Progress</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Budget</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A final budget must reconcile exactly to US$2.4m and include acquisition costs, contingency and working capital. Current spreadsheet deliberately flags unverified categories rather than presenting fabricated cost estimates.</a:t>
            </a:r>
          </a:p>
        </p:txBody>
      </p:sp>
      <p:sp>
        <p:nvSpPr>
          <p:cNvPr id="7" name="TextBox 6"/>
          <p:cNvSpPr txBox="1"/>
          <p:nvPr/>
        </p:nvSpPr>
        <p:spPr>
          <a:xfrm>
            <a:off x="777240" y="5120640"/>
            <a:ext cx="10424160" cy="548640"/>
          </a:xfrm>
          <a:prstGeom prst="rect">
            <a:avLst/>
          </a:prstGeom>
          <a:noFill/>
        </p:spPr>
        <p:txBody>
          <a:bodyPr wrap="square">
            <a:spAutoFit/>
          </a:bodyPr>
          <a:lstStyle/>
          <a:p>
            <a:pPr>
              <a:defRPr sz="1200" b="1">
                <a:solidFill>
                  <a:srgbClr val="B78A4A"/>
                </a:solidFill>
                <a:latin typeface="Aptos"/>
              </a:defRPr>
            </a:pPr>
            <a:r>
              <a:t>USE THE XLSX SOURCES &amp; USES TAB TO ENTER VERIFIED COSTS — DO NOT SHARE PLACEHOLDER COSTS AS FACT.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09  Two Development Paths</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Options</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PHASED: deliver a complete guest-ready first phase and expand when demand supports it. FULL BUILD: deliver 12–15 units in one programme. Compare on cost certainty, funding sufficiency, guest experience, cash flow and downside risk before choosing.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10  Financial Case — Validation Required</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Model</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A 10-year formula-based working model is included. Occupancy, ADR, ancillary revenue, cost ratios and opening timing are placeholders—not forecasts. Replace with market evidence, operator inputs, tax advice and QS costs before investor reliance.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11  Investor Structure</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Structure</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Target a lead investor or strategic partner, supported by a small aligned co-investor group. Equity/debt mix, valuation, governance, return waterfall and exit terms remain open and must be negotiated with advisers.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12  Risk &amp; Mitigation</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Risk</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Land/title: legal diligence. Cost: QS cost plan and contingency. Demand: competitor study and downside scenarios. Operations: operator plan and staffing budget. Environment/approvals: early specialist advice. Funding: staged drawdowns and sufficient working capital.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13  Impact &amp; Stewardship</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Impact</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pic>
        <p:nvPicPr>
          <p:cNvPr id="6" name="Picture 5" descr="V3_Lodge_and_Landscape_Concept.jpg"/>
          <p:cNvPicPr>
            <a:picLocks noChangeAspect="1"/>
          </p:cNvPicPr>
          <p:nvPr/>
        </p:nvPicPr>
        <p:blipFill>
          <a:blip r:embed="rId2"/>
          <a:stretch>
            <a:fillRect/>
          </a:stretch>
        </p:blipFill>
        <p:spPr>
          <a:xfrm>
            <a:off x="6949440" y="1234440"/>
            <a:ext cx="4663440" cy="4389120"/>
          </a:xfrm>
          <a:prstGeom prst="rect">
            <a:avLst/>
          </a:prstGeom>
        </p:spPr>
      </p:pic>
      <p:sp>
        <p:nvSpPr>
          <p:cNvPr id="7" name="TextBox 6"/>
          <p:cNvSpPr txBox="1"/>
          <p:nvPr/>
        </p:nvSpPr>
        <p:spPr>
          <a:xfrm>
            <a:off x="640080" y="1280160"/>
            <a:ext cx="5852160" cy="4480560"/>
          </a:xfrm>
          <a:prstGeom prst="rect">
            <a:avLst/>
          </a:prstGeom>
          <a:noFill/>
        </p:spPr>
        <p:txBody>
          <a:bodyPr wrap="square">
            <a:spAutoFit/>
          </a:bodyPr>
          <a:lstStyle/>
          <a:p>
            <a:pPr>
              <a:defRPr sz="1800" b="0">
                <a:solidFill>
                  <a:srgbClr val="23312C"/>
                </a:solidFill>
                <a:latin typeface="Aptos"/>
              </a:defRPr>
            </a:pPr>
            <a:r>
              <a:t>Set measurable goals for local hiring/procurement, water and energy management, waste, biodiversity and community engagement. Report outcomes only when targets, baselines and delivery responsibility are agreed.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14  Fundraising Plan</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Execution</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Days 1–30: lock facts and diligence evidence. Days 31–45: build a qualified pipeline. Days 46–60: targeted outreach. Days 61–75: meetings and diligence. Days 76–90: advance lead discussions and structure.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15  Immediate Next Steps</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Next</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sp>
        <p:nvSpPr>
          <p:cNvPr id="6" name="TextBox 5"/>
          <p:cNvSpPr txBox="1"/>
          <p:nvPr/>
        </p:nvSpPr>
        <p:spPr>
          <a:xfrm>
            <a:off x="731520" y="1325880"/>
            <a:ext cx="10789920" cy="4480560"/>
          </a:xfrm>
          <a:prstGeom prst="rect">
            <a:avLst/>
          </a:prstGeom>
          <a:noFill/>
        </p:spPr>
        <p:txBody>
          <a:bodyPr wrap="square">
            <a:spAutoFit/>
          </a:bodyPr>
          <a:lstStyle/>
          <a:p>
            <a:pPr>
              <a:defRPr sz="1900" b="0">
                <a:solidFill>
                  <a:srgbClr val="23312C"/>
                </a:solidFill>
                <a:latin typeface="Aptos"/>
              </a:defRPr>
            </a:pPr>
            <a:r>
              <a:t>1. Verify title and land acquisition terms.</a:t>
            </a:r>
          </a:p>
          <a:p>
            <a:pPr>
              <a:defRPr sz="1900" b="0">
                <a:solidFill>
                  <a:srgbClr val="23312C"/>
                </a:solidFill>
                <a:latin typeface="Aptos"/>
              </a:defRPr>
            </a:pPr>
            <a:r>
              <a:t>2. Commission survey and QS cost plan.</a:t>
            </a:r>
          </a:p>
          <a:p>
            <a:pPr>
              <a:defRPr sz="1900" b="0">
                <a:solidFill>
                  <a:srgbClr val="23312C"/>
                </a:solidFill>
                <a:latin typeface="Aptos"/>
              </a:defRPr>
            </a:pPr>
            <a:r>
              <a:t>3. Validate access, water, power, wastewater and approvals.</a:t>
            </a:r>
          </a:p>
          <a:p>
            <a:pPr>
              <a:defRPr sz="1900" b="0">
                <a:solidFill>
                  <a:srgbClr val="23312C"/>
                </a:solidFill>
                <a:latin typeface="Aptos"/>
              </a:defRPr>
            </a:pPr>
            <a:r>
              <a:t>4. Commission market/competitor work.</a:t>
            </a:r>
          </a:p>
          <a:p>
            <a:pPr>
              <a:defRPr sz="1900" b="0">
                <a:solidFill>
                  <a:srgbClr val="23312C"/>
                </a:solidFill>
                <a:latin typeface="Aptos"/>
              </a:defRPr>
            </a:pPr>
            <a:r>
              <a:t>5. Compare phased and full-build models.</a:t>
            </a:r>
          </a:p>
          <a:p>
            <a:pPr>
              <a:defRPr sz="1900" b="0">
                <a:solidFill>
                  <a:srgbClr val="23312C"/>
                </a:solidFill>
                <a:latin typeface="Aptos"/>
              </a:defRPr>
            </a:pPr>
            <a:r>
              <a:t>6. Prepare controlled investor data room.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064240" cy="365760"/>
          </a:xfrm>
          <a:prstGeom prst="rect">
            <a:avLst/>
          </a:prstGeom>
          <a:noFill/>
        </p:spPr>
        <p:txBody>
          <a:bodyPr wrap="square">
            <a:spAutoFit/>
          </a:bodyPr>
          <a:lstStyle/>
          <a:p>
            <a:pPr>
              <a:defRPr sz="2400" b="1">
                <a:solidFill>
                  <a:srgbClr val="153F35"/>
                </a:solidFill>
                <a:latin typeface="Aptos Display"/>
              </a:defRPr>
            </a:pPr>
            <a:r>
              <a:t>16  Closing</a:t>
            </a:r>
          </a:p>
        </p:txBody>
      </p:sp>
      <p:sp>
        <p:nvSpPr>
          <p:cNvPr id="4" name="TextBox 3"/>
          <p:cNvSpPr txBox="1"/>
          <p:nvPr/>
        </p:nvSpPr>
        <p:spPr>
          <a:xfrm>
            <a:off x="530352" y="713232"/>
            <a:ext cx="10972800" cy="320040"/>
          </a:xfrm>
          <a:prstGeom prst="rect">
            <a:avLst/>
          </a:prstGeom>
          <a:noFill/>
        </p:spPr>
        <p:txBody>
          <a:bodyPr wrap="square">
            <a:spAutoFit/>
          </a:bodyPr>
          <a:lstStyle/>
          <a:p>
            <a:pPr>
              <a:defRPr sz="1100" b="0">
                <a:solidFill>
                  <a:srgbClr val="65736D"/>
                </a:solidFill>
                <a:latin typeface="Aptos"/>
              </a:defRPr>
            </a:pPr>
            <a:r>
              <a:t>Close</a:t>
            </a:r>
          </a:p>
        </p:txBody>
      </p:sp>
      <p:sp>
        <p:nvSpPr>
          <p:cNvPr id="5" name="TextBox 4"/>
          <p:cNvSpPr txBox="1"/>
          <p:nvPr/>
        </p:nvSpPr>
        <p:spPr>
          <a:xfrm>
            <a:off x="502920" y="6547104"/>
            <a:ext cx="11064240" cy="164592"/>
          </a:xfrm>
          <a:prstGeom prst="rect">
            <a:avLst/>
          </a:prstGeom>
          <a:noFill/>
        </p:spPr>
        <p:txBody>
          <a:bodyPr wrap="square">
            <a:spAutoFit/>
          </a:bodyPr>
          <a:lstStyle/>
          <a:p>
            <a:pPr>
              <a:defRPr sz="800" b="0">
                <a:solidFill>
                  <a:srgbClr val="65736D"/>
                </a:solidFill>
                <a:latin typeface="Aptos"/>
              </a:defRPr>
            </a:pPr>
            <a:r>
              <a:t>JONIK NDOVU FARM  •  VERSION 3.0  •  CONFIDENTIAL WORKING DRAFT</a:t>
            </a:r>
          </a:p>
        </p:txBody>
      </p:sp>
      <p:pic>
        <p:nvPicPr>
          <p:cNvPr id="6" name="Picture 5" descr="V3_Lodge_and_Landscape_Concept.jpg"/>
          <p:cNvPicPr>
            <a:picLocks noChangeAspect="1"/>
          </p:cNvPicPr>
          <p:nvPr/>
        </p:nvPicPr>
        <p:blipFill>
          <a:blip r:embed="rId2"/>
          <a:stretch>
            <a:fillRect/>
          </a:stretch>
        </p:blipFill>
        <p:spPr>
          <a:xfrm>
            <a:off x="6949440" y="1234440"/>
            <a:ext cx="4663440" cy="4389120"/>
          </a:xfrm>
          <a:prstGeom prst="rect">
            <a:avLst/>
          </a:prstGeom>
        </p:spPr>
      </p:pic>
      <p:sp>
        <p:nvSpPr>
          <p:cNvPr id="7" name="TextBox 6"/>
          <p:cNvSpPr txBox="1"/>
          <p:nvPr/>
        </p:nvSpPr>
        <p:spPr>
          <a:xfrm>
            <a:off x="640080" y="1280160"/>
            <a:ext cx="5852160" cy="4480560"/>
          </a:xfrm>
          <a:prstGeom prst="rect">
            <a:avLst/>
          </a:prstGeom>
          <a:noFill/>
        </p:spPr>
        <p:txBody>
          <a:bodyPr wrap="square">
            <a:spAutoFit/>
          </a:bodyPr>
          <a:lstStyle/>
          <a:p>
            <a:pPr>
              <a:defRPr sz="1800" b="0">
                <a:solidFill>
                  <a:srgbClr val="23312C"/>
                </a:solidFill>
                <a:latin typeface="Aptos"/>
              </a:defRPr>
            </a:pPr>
            <a:r>
              <a:t>Jonik Ndovu Farm</a:t>
            </a:r>
          </a:p>
          <a:p>
            <a:pPr>
              <a:defRPr sz="1800" b="0">
                <a:solidFill>
                  <a:srgbClr val="23312C"/>
                </a:solidFill>
                <a:latin typeface="Aptos"/>
              </a:defRPr>
            </a:pPr>
            <a:r>
              <a:t>A distinctive destination built around hospitality, agriculture and nature.</a:t>
            </a:r>
          </a:p>
          <a:p>
            <a:pPr>
              <a:defRPr sz="1800" b="0">
                <a:solidFill>
                  <a:srgbClr val="23312C"/>
                </a:solidFill>
                <a:latin typeface="Aptos"/>
              </a:defRPr>
            </a:pPr>
          </a:p>
          <a:p>
            <a:pPr>
              <a:defRPr sz="1800" b="0">
                <a:solidFill>
                  <a:srgbClr val="23312C"/>
                </a:solidFill>
                <a:latin typeface="Aptos"/>
              </a:defRPr>
            </a:pPr>
            <a:r>
              <a:t>US$2.4m total capital requirement • 12–15 units</a:t>
            </a:r>
          </a:p>
          <a:p>
            <a:pPr>
              <a:defRPr sz="1800" b="0">
                <a:solidFill>
                  <a:srgbClr val="23312C"/>
                </a:solidFill>
                <a:latin typeface="Aptos"/>
              </a:defRPr>
            </a:pPr>
          </a:p>
          <a:p>
            <a:pPr>
              <a:defRPr sz="1800" b="0">
                <a:solidFill>
                  <a:srgbClr val="23312C"/>
                </a:solidFill>
                <a:latin typeface="Aptos"/>
              </a:defRPr>
            </a:pPr>
            <a:r>
              <a:t>Confidential working draft — all assumptions subject to diligence.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